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  <p:sldMasterId id="2147483707" r:id="rId2"/>
    <p:sldMasterId id="2147483708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unito" pitchFamily="2" charset="0"/>
      <p:regular r:id="rId32"/>
      <p:bold r:id="rId33"/>
      <p:italic r:id="rId34"/>
      <p:boldItalic r:id="rId35"/>
    </p:embeddedFont>
    <p:embeddedFont>
      <p:font typeface="Nunito ExtraBold" pitchFamily="2" charset="0"/>
      <p:bold r:id="rId36"/>
      <p:boldItalic r:id="rId37"/>
    </p:embeddedFont>
    <p:embeddedFont>
      <p:font typeface="Nunito SemiBold" pitchFamily="2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365641-8200-4249-8B6C-B5293923BFB7}">
  <a:tblStyle styleId="{F4365641-8200-4249-8B6C-B5293923BFB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2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12.fntdata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ce6d25449_0_9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g3dce6d2544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778"/>
            <a:ext cx="4572300" cy="34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ce6d25449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ce6d25449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e31972bd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3de31972bd4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e31972bd4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3de31972bd4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Strengthen the deterministic policy gate + final override to improve compliance and predictability.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e393f4b4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e393f4b4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e393f4b43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e393f4b43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e393f4b43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de393f4b43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e393f4b43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e393f4b43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e393f4b4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de393f4b4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e393f4b43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e393f4b43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e393f4b43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g3de393f4b43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e393f4b43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g3de393f4b43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e393f4b43_0_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9" name="Google Shape;399;g3de393f4b43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g3de393f4b43_0_1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de393f4b43_0_16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OBJECT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295824" y="126288"/>
            <a:ext cx="63786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1" i="0">
                <a:solidFill>
                  <a:srgbClr val="0D38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2491651" y="4671998"/>
            <a:ext cx="4161300" cy="1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OBJECT_3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75574" y="351128"/>
            <a:ext cx="69216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0" i="0">
                <a:solidFill>
                  <a:srgbClr val="43434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915998" y="4976665"/>
            <a:ext cx="210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">
  <p:cSld name="OBJECT_3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5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11700" y="1280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6">
  <p:cSld name="TITLE_AND_BODY_6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OBJECT_2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372024" y="172908"/>
            <a:ext cx="62883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1" i="0">
                <a:solidFill>
                  <a:srgbClr val="0D37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 2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384725" y="189911"/>
            <a:ext cx="83745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 i="0">
                <a:solidFill>
                  <a:srgbClr val="0D38A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>
            <a:off x="2424266" y="4986147"/>
            <a:ext cx="4311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OBJECT_4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275574" y="351128"/>
            <a:ext cx="69216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0" i="0">
                <a:solidFill>
                  <a:srgbClr val="43434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915998" y="4976665"/>
            <a:ext cx="2109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">
  <p:cSld name="TITLE_AND_BODY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 1">
  <p:cSld name="OBJECT_1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300" b="1" i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ftr" idx="11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dt" idx="10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2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{F4365641-8200-4249-8B6C-B5293923BFB7}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8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4" t="18360" r="37292" b="1914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3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3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 1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2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202550" y="33084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1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202550" y="903537"/>
            <a:ext cx="8629800" cy="29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 sz="13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3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4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 1">
  <p:cSld name="OBJECT_3_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 1 1">
  <p:cSld name="OBJECT_2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>
            <a:spLocks noGrp="1"/>
          </p:cNvSpPr>
          <p:nvPr>
            <p:ph type="title"/>
          </p:nvPr>
        </p:nvSpPr>
        <p:spPr>
          <a:xfrm>
            <a:off x="372024" y="172908"/>
            <a:ext cx="6288300" cy="3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1" i="0">
                <a:solidFill>
                  <a:srgbClr val="0D37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2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143" name="Google Shape;143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{F4365641-8200-4249-8B6C-B5293923BFB7}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3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9" name="Google Shape;149;p3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9" name="Google Shape;159;p3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0" name="Google Shape;160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3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36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5" t="18360" r="37295" b="1914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3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69" name="Google Shape;16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37"/>
          <p:cNvSpPr txBox="1">
            <a:spLocks noGrp="1"/>
          </p:cNvSpPr>
          <p:nvPr>
            <p:ph type="body" idx="1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>
            <a:spLocks noGrp="1"/>
          </p:cNvSpPr>
          <p:nvPr>
            <p:ph type="dt" idx="10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38"/>
          <p:cNvSpPr txBox="1">
            <a:spLocks noGrp="1"/>
          </p:cNvSpPr>
          <p:nvPr>
            <p:ph type="ftr" idx="11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38"/>
          <p:cNvSpPr txBox="1">
            <a:spLocks noGrp="1"/>
          </p:cNvSpPr>
          <p:nvPr>
            <p:ph type="sldNum" idx="12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>
            <a:spLocks noGrp="1"/>
          </p:cNvSpPr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30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9"/>
          <p:cNvSpPr txBox="1">
            <a:spLocks noGrp="1"/>
          </p:cNvSpPr>
          <p:nvPr>
            <p:ph type="body" idx="1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9"/>
          <p:cNvSpPr txBox="1">
            <a:spLocks noGrp="1"/>
          </p:cNvSpPr>
          <p:nvPr>
            <p:ph type="ftr" idx="11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3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39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>
            <a:spLocks noGrp="1"/>
          </p:cNvSpPr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33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0"/>
          <p:cNvSpPr txBox="1">
            <a:spLocks noGrp="1"/>
          </p:cNvSpPr>
          <p:nvPr>
            <p:ph type="ftr" idx="11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4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40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_2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1"/>
          <p:cNvSpPr txBox="1">
            <a:spLocks noGrp="1"/>
          </p:cNvSpPr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33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1"/>
          <p:cNvSpPr txBox="1">
            <a:spLocks noGrp="1"/>
          </p:cNvSpPr>
          <p:nvPr>
            <p:ph type="ftr" idx="11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4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4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_3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>
            <a:spLocks noGrp="1"/>
          </p:cNvSpPr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8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ftr" idx="11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" name="Google Shape;199;p4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4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OBJECT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>
            <a:spLocks noGrp="1"/>
          </p:cNvSpPr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5200" b="0" i="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3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3"/>
          <p:cNvSpPr txBox="1">
            <a:spLocks noGrp="1"/>
          </p:cNvSpPr>
          <p:nvPr>
            <p:ph type="ftr" idx="11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" name="Google Shape;205;p4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4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OBJECT_2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>
            <a:spLocks noGrp="1"/>
          </p:cNvSpPr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4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4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44"/>
          <p:cNvSpPr txBox="1">
            <a:spLocks noGrp="1"/>
          </p:cNvSpPr>
          <p:nvPr>
            <p:ph type="sldNum" idx="12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" name="Google Shape;214;p4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45"/>
          <p:cNvSpPr txBox="1">
            <a:spLocks noGrp="1"/>
          </p:cNvSpPr>
          <p:nvPr>
            <p:ph type="sldNum" idx="12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6"/>
          <p:cNvSpPr txBox="1">
            <a:spLocks noGrp="1"/>
          </p:cNvSpPr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14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6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6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4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" name="Google Shape;222;p46"/>
          <p:cNvSpPr txBox="1">
            <a:spLocks noGrp="1"/>
          </p:cNvSpPr>
          <p:nvPr>
            <p:ph type="sldNum" idx="12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 1">
  <p:cSld name="OBJECT_1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>
            <a:spLocks noGrp="1"/>
          </p:cNvSpPr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4300" b="1" i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7"/>
          <p:cNvSpPr txBox="1">
            <a:spLocks noGrp="1"/>
          </p:cNvSpPr>
          <p:nvPr>
            <p:ph type="ftr" idx="11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" name="Google Shape;226;p47"/>
          <p:cNvSpPr txBox="1">
            <a:spLocks noGrp="1"/>
          </p:cNvSpPr>
          <p:nvPr>
            <p:ph type="dt" idx="10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47"/>
          <p:cNvSpPr txBox="1">
            <a:spLocks noGrp="1"/>
          </p:cNvSpPr>
          <p:nvPr>
            <p:ph type="sldNum" idx="12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54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54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254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54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54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4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54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4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54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">
  <p:cSld name="TITLE_AND_BODY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 1">
  <p:cSld name="Blank 2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4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52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5" t="18360" r="37295" b="1914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2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5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sz="3300" b="0" i="0" u="none" strike="noStrike" cap="non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246" name="Google Shape;24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3"/>
          <p:cNvSpPr txBox="1">
            <a:spLocks noGrp="1"/>
          </p:cNvSpPr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49" name="Google Shape;249;p53"/>
          <p:cNvSpPr txBox="1">
            <a:spLocks noGrp="1"/>
          </p:cNvSpPr>
          <p:nvPr>
            <p:ph type="subTitle" idx="1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 b="1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5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56" name="Google Shape;256;p5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6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259" name="Google Shape;259;p56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{F4365641-8200-4249-8B6C-B5293923BFB7}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0" name="Google Shape;260;p5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7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4" name="Google Shape;264;p5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5" name="Google Shape;265;p5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8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5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71" name="Google Shape;271;p5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75" name="Google Shape;275;p6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6" name="Google Shape;276;p6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277" name="Google Shape;277;p6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669500" y="68263"/>
            <a:ext cx="1395475" cy="572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25" name="Google Shape;125;p2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" name="Google Shape;126;p2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6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2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9" name="Google Shape;129;p2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1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234" name="Google Shape;234;p51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35" name="Google Shape;235;p5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5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" name="Google Shape;237;p5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5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239" name="Google Shape;239;p5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5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2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4100" b="1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sz="4100" b="1" i="0" u="none" strike="noStrike" cap="non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5" name="Google Shape;285;p62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" sz="29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sz="2900" b="0" i="0" u="none" strike="noStrike" cap="non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62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sz="2200" b="0" i="0" u="none" strike="noStrike" cap="non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3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Contents / Agenda</a:t>
            </a:r>
            <a:endParaRPr sz="2200" b="1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2" name="Google Shape;292;p63"/>
          <p:cNvSpPr txBox="1"/>
          <p:nvPr/>
        </p:nvSpPr>
        <p:spPr>
          <a:xfrm>
            <a:off x="634175" y="729769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Montserrat"/>
                <a:ea typeface="Montserrat"/>
                <a:cs typeface="Montserrat"/>
                <a:sym typeface="Montserrat"/>
              </a:rPr>
              <a:t>Business Problem Overview</a:t>
            </a: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Montserrat"/>
                <a:ea typeface="Montserrat"/>
                <a:cs typeface="Montserrat"/>
                <a:sym typeface="Montserrat"/>
              </a:rPr>
              <a:t>Data Loading</a:t>
            </a: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Montserrat"/>
                <a:ea typeface="Montserrat"/>
                <a:cs typeface="Montserrat"/>
                <a:sym typeface="Montserrat"/>
              </a:rPr>
              <a:t>Summarization</a:t>
            </a: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Montserrat"/>
                <a:ea typeface="Montserrat"/>
                <a:cs typeface="Montserrat"/>
                <a:sym typeface="Montserrat"/>
              </a:rPr>
              <a:t>Evaluation for summarization</a:t>
            </a: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Montserrat"/>
                <a:ea typeface="Montserrat"/>
                <a:cs typeface="Montserrat"/>
                <a:sym typeface="Montserrat"/>
              </a:rPr>
              <a:t>Response Generation</a:t>
            </a: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Montserrat"/>
                <a:ea typeface="Montserrat"/>
                <a:cs typeface="Montserrat"/>
                <a:sym typeface="Montserrat"/>
              </a:rPr>
              <a:t>Evaluation for response generation</a:t>
            </a: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 dirty="0">
                <a:latin typeface="Montserrat"/>
                <a:ea typeface="Montserrat"/>
                <a:cs typeface="Montserrat"/>
                <a:sym typeface="Montserrat"/>
              </a:rPr>
              <a:t>Output &amp; Compilation</a:t>
            </a: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3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63"/>
          <p:cNvSpPr/>
          <p:nvPr/>
        </p:nvSpPr>
        <p:spPr>
          <a:xfrm>
            <a:off x="356221" y="993510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63"/>
          <p:cNvSpPr/>
          <p:nvPr/>
        </p:nvSpPr>
        <p:spPr>
          <a:xfrm>
            <a:off x="356221" y="1464815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63"/>
          <p:cNvSpPr/>
          <p:nvPr/>
        </p:nvSpPr>
        <p:spPr>
          <a:xfrm>
            <a:off x="356221" y="1859920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63"/>
          <p:cNvSpPr/>
          <p:nvPr/>
        </p:nvSpPr>
        <p:spPr>
          <a:xfrm>
            <a:off x="356221" y="229951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63"/>
          <p:cNvSpPr/>
          <p:nvPr/>
        </p:nvSpPr>
        <p:spPr>
          <a:xfrm>
            <a:off x="356227" y="2710877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63"/>
          <p:cNvSpPr/>
          <p:nvPr/>
        </p:nvSpPr>
        <p:spPr>
          <a:xfrm>
            <a:off x="356227" y="3146213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9" name="Google Shape;299;p63"/>
          <p:cNvSpPr/>
          <p:nvPr/>
        </p:nvSpPr>
        <p:spPr>
          <a:xfrm>
            <a:off x="356227" y="3561813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p63"/>
          <p:cNvSpPr/>
          <p:nvPr/>
        </p:nvSpPr>
        <p:spPr>
          <a:xfrm>
            <a:off x="356227" y="3977413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4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06" name="Google Shape;306;p64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7" name="Google Shape;307;p64"/>
          <p:cNvSpPr txBox="1"/>
          <p:nvPr/>
        </p:nvSpPr>
        <p:spPr>
          <a:xfrm>
            <a:off x="691800" y="1281593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</a:t>
            </a: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conclusions and business</a:t>
            </a: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recommendations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Business Problem Overview and Solution Approach</a:t>
            </a:r>
            <a:endParaRPr sz="2400" b="1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3" name="Google Shape;313;p65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65"/>
          <p:cNvSpPr txBox="1"/>
          <p:nvPr/>
        </p:nvSpPr>
        <p:spPr>
          <a:xfrm>
            <a:off x="691800" y="1282271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65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65"/>
          <p:cNvSpPr txBox="1"/>
          <p:nvPr/>
        </p:nvSpPr>
        <p:spPr>
          <a:xfrm>
            <a:off x="691800" y="167584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sz="1400" b="0" i="0" u="none" strike="noStrike" cap="none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Data Loading</a:t>
            </a:r>
            <a:endParaRPr sz="2400" b="1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2" name="Google Shape;322;p66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3" name="Google Shape;323;p66"/>
          <p:cNvSpPr txBox="1"/>
          <p:nvPr/>
        </p:nvSpPr>
        <p:spPr>
          <a:xfrm>
            <a:off x="691800" y="1633242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Display the data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66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p66"/>
          <p:cNvSpPr txBox="1"/>
          <p:nvPr/>
        </p:nvSpPr>
        <p:spPr>
          <a:xfrm>
            <a:off x="691800" y="1252242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Load the data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66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lang="en" sz="1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600" b="0" i="1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sz="1600" b="0" i="1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7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Summarization</a:t>
            </a:r>
            <a:endParaRPr sz="2400" b="1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p67"/>
          <p:cNvSpPr/>
          <p:nvPr/>
        </p:nvSpPr>
        <p:spPr>
          <a:xfrm>
            <a:off x="403421" y="166299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p67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67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lang="en" sz="1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600" b="0" i="1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sz="1600" b="0" i="1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5" name="Google Shape;335;p67"/>
          <p:cNvSpPr txBox="1"/>
          <p:nvPr/>
        </p:nvSpPr>
        <p:spPr>
          <a:xfrm>
            <a:off x="692550" y="1173114"/>
            <a:ext cx="73857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Set up an LLM with appropriate rationale for the choice of the model used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Set parameters such as temperature and max tokens with appropriate rationale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Choose the prompting technique with appropriate rationale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Write a system message with clear rules and output format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Generate ticket summaries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Provide observations based on the output received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67"/>
          <p:cNvSpPr/>
          <p:nvPr/>
        </p:nvSpPr>
        <p:spPr>
          <a:xfrm>
            <a:off x="403421" y="198404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67"/>
          <p:cNvSpPr/>
          <p:nvPr/>
        </p:nvSpPr>
        <p:spPr>
          <a:xfrm>
            <a:off x="403421" y="2614174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67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9" name="Google Shape;339;p67"/>
          <p:cNvSpPr/>
          <p:nvPr/>
        </p:nvSpPr>
        <p:spPr>
          <a:xfrm>
            <a:off x="403421" y="2935224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8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Evaluation for Summarization</a:t>
            </a:r>
            <a:endParaRPr sz="2400" b="1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p68"/>
          <p:cNvSpPr/>
          <p:nvPr/>
        </p:nvSpPr>
        <p:spPr>
          <a:xfrm>
            <a:off x="403421" y="166299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68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7" name="Google Shape;347;p68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lang="en" sz="1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600" b="0" i="1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sz="1600" b="0" i="1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8" name="Google Shape;348;p68"/>
          <p:cNvSpPr txBox="1"/>
          <p:nvPr/>
        </p:nvSpPr>
        <p:spPr>
          <a:xfrm>
            <a:off x="692550" y="1179740"/>
            <a:ext cx="7385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Set up an LLM with appropriate rationale for the choice of the model used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Write a system message with criteria and rules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Generate the output scores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Provide observations based on the output received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68"/>
          <p:cNvSpPr/>
          <p:nvPr/>
        </p:nvSpPr>
        <p:spPr>
          <a:xfrm>
            <a:off x="403421" y="198404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0" name="Google Shape;350;p68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9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Response Generation</a:t>
            </a:r>
            <a:endParaRPr sz="2400" b="1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69"/>
          <p:cNvSpPr/>
          <p:nvPr/>
        </p:nvSpPr>
        <p:spPr>
          <a:xfrm>
            <a:off x="403421" y="166299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69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p69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lang="en" sz="1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600" b="0" i="1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sz="1600" b="0" i="1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69"/>
          <p:cNvSpPr txBox="1"/>
          <p:nvPr/>
        </p:nvSpPr>
        <p:spPr>
          <a:xfrm>
            <a:off x="692550" y="1173114"/>
            <a:ext cx="7385700" cy="26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Set up an LLM with appropriate rationale for the choice of the model used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Set parameters such as temperature and max tokens with appropriate rationale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Choose the prompting technique with appropriate rationale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Write a system message with correct output format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Embed all policies accurately in the system message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Generate a user response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observations based on the output received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69"/>
          <p:cNvSpPr/>
          <p:nvPr/>
        </p:nvSpPr>
        <p:spPr>
          <a:xfrm>
            <a:off x="403421" y="198404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p69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2" name="Google Shape;362;p69"/>
          <p:cNvSpPr/>
          <p:nvPr/>
        </p:nvSpPr>
        <p:spPr>
          <a:xfrm>
            <a:off x="403421" y="262614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3" name="Google Shape;363;p69"/>
          <p:cNvSpPr/>
          <p:nvPr/>
        </p:nvSpPr>
        <p:spPr>
          <a:xfrm>
            <a:off x="403421" y="294719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4" name="Google Shape;364;p69"/>
          <p:cNvSpPr/>
          <p:nvPr/>
        </p:nvSpPr>
        <p:spPr>
          <a:xfrm>
            <a:off x="403421" y="3268261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0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Evaluation for Response </a:t>
            </a:r>
            <a:r>
              <a:rPr lang="en" sz="2400" b="1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Generation</a:t>
            </a:r>
            <a:endParaRPr sz="2400" b="1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0" name="Google Shape;370;p70"/>
          <p:cNvSpPr/>
          <p:nvPr/>
        </p:nvSpPr>
        <p:spPr>
          <a:xfrm>
            <a:off x="403421" y="166299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1" name="Google Shape;371;p70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" name="Google Shape;372;p70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lang="en" sz="1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600" b="0" i="1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sz="1600" b="0" i="1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3" name="Google Shape;373;p70"/>
          <p:cNvSpPr txBox="1"/>
          <p:nvPr/>
        </p:nvSpPr>
        <p:spPr>
          <a:xfrm>
            <a:off x="692550" y="1192992"/>
            <a:ext cx="73857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Set up an LLM with appropriate rationale for the choice of the model used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Write a system message with criteria and rules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Generate the output scores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observations based on the output received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70"/>
          <p:cNvSpPr/>
          <p:nvPr/>
        </p:nvSpPr>
        <p:spPr>
          <a:xfrm>
            <a:off x="403421" y="1984049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5" name="Google Shape;375;p70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1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Output &amp; Compilation</a:t>
            </a:r>
            <a:endParaRPr sz="2400" b="1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1" name="Google Shape;381;p71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2" name="Google Shape;382;p71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lang="en" sz="16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600" b="0" i="1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sz="1600" b="0" i="1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3" name="Google Shape;383;p71"/>
          <p:cNvSpPr txBox="1"/>
          <p:nvPr/>
        </p:nvSpPr>
        <p:spPr>
          <a:xfrm>
            <a:off x="692550" y="1139984"/>
            <a:ext cx="73857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"/>
                <a:ea typeface="Montserrat"/>
                <a:cs typeface="Montserrat"/>
                <a:sym typeface="Montserrat"/>
              </a:rPr>
              <a:t>Combine ticket ID, raw ticket text, generated summary, and generated response into a single consolidated file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2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2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sz="2800" b="1" i="0" u="none" strike="noStrike" cap="non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95" name="Google Shape;395;p73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name="adj" fmla="val 25000"/>
            </a:avLst>
          </a:prstGeom>
          <a:solidFill>
            <a:srgbClr val="0944A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6" name="Google Shape;396;p73"/>
          <p:cNvSpPr txBox="1"/>
          <p:nvPr/>
        </p:nvSpPr>
        <p:spPr>
          <a:xfrm>
            <a:off x="691800" y="1182668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(if needed)</a:t>
            </a:r>
            <a:endParaRPr sz="14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4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/>
          </a:p>
        </p:txBody>
      </p:sp>
      <p:sp>
        <p:nvSpPr>
          <p:cNvPr id="404" name="Google Shape;404;p74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On-screen Show (16:9)</PresentationFormat>
  <Paragraphs>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Nunito</vt:lpstr>
      <vt:lpstr>Calibri</vt:lpstr>
      <vt:lpstr>Nunito ExtraBold</vt:lpstr>
      <vt:lpstr>Montserrat</vt:lpstr>
      <vt:lpstr>Arial Black</vt:lpstr>
      <vt:lpstr>Nunito SemiBold</vt:lpstr>
      <vt:lpstr>Verdana</vt:lpstr>
      <vt:lpstr>Century Gothic</vt:lpstr>
      <vt:lpstr>Arial</vt:lpstr>
      <vt:lpstr>Just Logo</vt:lpstr>
      <vt:lpstr>Just Logo</vt:lpstr>
      <vt:lpstr>Just Logo</vt:lpstr>
      <vt:lpstr>PowerPoint Presentation</vt:lpstr>
      <vt:lpstr>PowerPoint Presentation</vt:lpstr>
      <vt:lpstr>Executive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header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Pinni Praneeth kumar</cp:lastModifiedBy>
  <cp:revision>1</cp:revision>
  <dcterms:modified xsi:type="dcterms:W3CDTF">2026-04-11T13:34:26Z</dcterms:modified>
</cp:coreProperties>
</file>